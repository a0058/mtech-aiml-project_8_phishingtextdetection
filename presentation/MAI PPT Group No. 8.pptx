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32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829" y="6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7A044B3D-034E-35F9-9FA0-C495C8E3DCD1}"/>
              </a:ext>
            </a:extLst>
          </p:cNvPr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391CCD1-7736-7A2E-6ECD-350BA2DC3638}"/>
              </a:ext>
            </a:extLst>
          </p:cNvPr>
          <p:cNvSpPr/>
          <p:nvPr/>
        </p:nvSpPr>
        <p:spPr>
          <a:xfrm>
            <a:off x="9235440" y="914400"/>
            <a:ext cx="201168" cy="201168"/>
          </a:xfrm>
          <a:prstGeom prst="ellipse">
            <a:avLst/>
          </a:prstGeom>
          <a:solidFill>
            <a:srgbClr val="3F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4224355-572E-D73C-13B5-CA3B4D4EE593}"/>
              </a:ext>
            </a:extLst>
          </p:cNvPr>
          <p:cNvSpPr/>
          <p:nvPr/>
        </p:nvSpPr>
        <p:spPr>
          <a:xfrm>
            <a:off x="10698480" y="1645920"/>
            <a:ext cx="137160" cy="137160"/>
          </a:xfrm>
          <a:prstGeom prst="ellipse">
            <a:avLst/>
          </a:prstGeom>
          <a:solidFill>
            <a:srgbClr val="FFB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B40900-442E-30F1-453E-67E231B781FC}"/>
              </a:ext>
            </a:extLst>
          </p:cNvPr>
          <p:cNvSpPr/>
          <p:nvPr/>
        </p:nvSpPr>
        <p:spPr>
          <a:xfrm>
            <a:off x="9875520" y="2926080"/>
            <a:ext cx="164592" cy="164592"/>
          </a:xfrm>
          <a:prstGeom prst="ellipse">
            <a:avLst/>
          </a:prstGeom>
          <a:solidFill>
            <a:srgbClr val="6FD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C14B397-F84A-1FF9-AAA8-F51190443CA5}"/>
              </a:ext>
            </a:extLst>
          </p:cNvPr>
          <p:cNvSpPr/>
          <p:nvPr/>
        </p:nvSpPr>
        <p:spPr>
          <a:xfrm>
            <a:off x="10972800" y="4023360"/>
            <a:ext cx="219456" cy="219456"/>
          </a:xfrm>
          <a:prstGeom prst="ellipse">
            <a:avLst/>
          </a:prstGeom>
          <a:solidFill>
            <a:srgbClr val="3F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1AA0A4-C98B-AE7E-1592-E3740114E808}"/>
              </a:ext>
            </a:extLst>
          </p:cNvPr>
          <p:cNvSpPr/>
          <p:nvPr/>
        </p:nvSpPr>
        <p:spPr>
          <a:xfrm>
            <a:off x="9144000" y="5212080"/>
            <a:ext cx="146304" cy="146304"/>
          </a:xfrm>
          <a:prstGeom prst="ellipse">
            <a:avLst/>
          </a:prstGeom>
          <a:solidFill>
            <a:srgbClr val="FFB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7">
            <a:extLst>
              <a:ext uri="{FF2B5EF4-FFF2-40B4-BE49-F238E27FC236}">
                <a16:creationId xmlns:a16="http://schemas.microsoft.com/office/drawing/2014/main" id="{62270D7B-C5C1-EFA7-9A2A-F2473F5218D1}"/>
              </a:ext>
            </a:extLst>
          </p:cNvPr>
          <p:cNvCxnSpPr/>
          <p:nvPr/>
        </p:nvCxnSpPr>
        <p:spPr>
          <a:xfrm>
            <a:off x="9326880" y="1005840"/>
            <a:ext cx="1371600" cy="731520"/>
          </a:xfrm>
          <a:prstGeom prst="line">
            <a:avLst/>
          </a:prstGeom>
          <a:ln w="20320">
            <a:solidFill>
              <a:srgbClr val="A5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8">
            <a:extLst>
              <a:ext uri="{FF2B5EF4-FFF2-40B4-BE49-F238E27FC236}">
                <a16:creationId xmlns:a16="http://schemas.microsoft.com/office/drawing/2014/main" id="{C097601B-17A0-1975-CD4F-1F9D22F5FAE0}"/>
              </a:ext>
            </a:extLst>
          </p:cNvPr>
          <p:cNvCxnSpPr/>
          <p:nvPr/>
        </p:nvCxnSpPr>
        <p:spPr>
          <a:xfrm flipH="1">
            <a:off x="9966960" y="1737360"/>
            <a:ext cx="731520" cy="1280160"/>
          </a:xfrm>
          <a:prstGeom prst="line">
            <a:avLst/>
          </a:prstGeom>
          <a:ln w="20320">
            <a:solidFill>
              <a:srgbClr val="A5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9">
            <a:extLst>
              <a:ext uri="{FF2B5EF4-FFF2-40B4-BE49-F238E27FC236}">
                <a16:creationId xmlns:a16="http://schemas.microsoft.com/office/drawing/2014/main" id="{836134D4-95F7-64F8-4E8C-E489A9E4AEC9}"/>
              </a:ext>
            </a:extLst>
          </p:cNvPr>
          <p:cNvCxnSpPr/>
          <p:nvPr/>
        </p:nvCxnSpPr>
        <p:spPr>
          <a:xfrm>
            <a:off x="9966960" y="3017520"/>
            <a:ext cx="1097280" cy="1097280"/>
          </a:xfrm>
          <a:prstGeom prst="line">
            <a:avLst/>
          </a:prstGeom>
          <a:ln w="20320">
            <a:solidFill>
              <a:srgbClr val="A5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10">
            <a:extLst>
              <a:ext uri="{FF2B5EF4-FFF2-40B4-BE49-F238E27FC236}">
                <a16:creationId xmlns:a16="http://schemas.microsoft.com/office/drawing/2014/main" id="{8D213961-C48A-4760-7FB0-20A026718675}"/>
              </a:ext>
            </a:extLst>
          </p:cNvPr>
          <p:cNvCxnSpPr/>
          <p:nvPr/>
        </p:nvCxnSpPr>
        <p:spPr>
          <a:xfrm flipH="1">
            <a:off x="9235440" y="4114800"/>
            <a:ext cx="1828800" cy="1188720"/>
          </a:xfrm>
          <a:prstGeom prst="line">
            <a:avLst/>
          </a:prstGeom>
          <a:ln w="20320">
            <a:solidFill>
              <a:srgbClr val="A5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83DD8C7-D29E-D507-A737-412E9A9F48C8}"/>
              </a:ext>
            </a:extLst>
          </p:cNvPr>
          <p:cNvSpPr txBox="1"/>
          <p:nvPr/>
        </p:nvSpPr>
        <p:spPr>
          <a:xfrm>
            <a:off x="731520" y="822960"/>
            <a:ext cx="7223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3FC4D2"/>
                </a:solidFill>
                <a:latin typeface="Aptos"/>
              </a:defRPr>
            </a:pPr>
            <a:r>
              <a:t>MACHINE LEARNING • NLP • CYBERSECURITY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21FB5B-7947-5497-1006-BFDF4F9BED0C}"/>
              </a:ext>
            </a:extLst>
          </p:cNvPr>
          <p:cNvSpPr txBox="1"/>
          <p:nvPr/>
        </p:nvSpPr>
        <p:spPr>
          <a:xfrm>
            <a:off x="731520" y="1508760"/>
            <a:ext cx="7498079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800" b="1" i="0">
                <a:solidFill>
                  <a:srgbClr val="F8FAFC"/>
                </a:solidFill>
                <a:latin typeface="Aptos"/>
              </a:defRPr>
            </a:pPr>
            <a:r>
              <a:t>PHISHING TEXT</a:t>
            </a:r>
          </a:p>
          <a:p>
            <a:pPr algn="l">
              <a:spcAft>
                <a:spcPts val="600"/>
              </a:spcAft>
              <a:defRPr sz="3800" b="1" i="0">
                <a:solidFill>
                  <a:srgbClr val="F8FAFC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9EE382-07FE-5F42-AE04-88104ABC7D95}"/>
              </a:ext>
            </a:extLst>
          </p:cNvPr>
          <p:cNvSpPr txBox="1"/>
          <p:nvPr/>
        </p:nvSpPr>
        <p:spPr>
          <a:xfrm>
            <a:off x="749808" y="3337560"/>
            <a:ext cx="713232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100" b="0" i="0">
                <a:solidFill>
                  <a:srgbClr val="E2EAF3"/>
                </a:solidFill>
                <a:latin typeface="Aptos"/>
              </a:defRPr>
            </a:pPr>
            <a:r>
              <a:t>Comparing text-classification models on original and synthetically modified emails</a:t>
            </a:r>
          </a:p>
        </p:txBody>
      </p:sp>
      <p:sp>
        <p:nvSpPr>
          <p:cNvPr id="62" name="Rounded Rectangle 14">
            <a:extLst>
              <a:ext uri="{FF2B5EF4-FFF2-40B4-BE49-F238E27FC236}">
                <a16:creationId xmlns:a16="http://schemas.microsoft.com/office/drawing/2014/main" id="{C533E0CE-2AB1-95D1-98F5-FA8AE9146D96}"/>
              </a:ext>
            </a:extLst>
          </p:cNvPr>
          <p:cNvSpPr/>
          <p:nvPr/>
        </p:nvSpPr>
        <p:spPr>
          <a:xfrm>
            <a:off x="735453" y="5074920"/>
            <a:ext cx="6858000" cy="960120"/>
          </a:xfrm>
          <a:prstGeom prst="round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976067-2207-7748-F48E-67CFE1082C0A}"/>
              </a:ext>
            </a:extLst>
          </p:cNvPr>
          <p:cNvSpPr txBox="1"/>
          <p:nvPr/>
        </p:nvSpPr>
        <p:spPr>
          <a:xfrm>
            <a:off x="861800" y="5148072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3FC4D2"/>
                </a:solidFill>
                <a:latin typeface="Aptos"/>
              </a:defRPr>
            </a:pPr>
            <a:r>
              <a:rPr dirty="0"/>
              <a:t>Team members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98DC76-8E52-45BF-A9BB-8BB87483BF84}"/>
              </a:ext>
            </a:extLst>
          </p:cNvPr>
          <p:cNvSpPr txBox="1"/>
          <p:nvPr/>
        </p:nvSpPr>
        <p:spPr>
          <a:xfrm>
            <a:off x="2159659" y="5148072"/>
            <a:ext cx="4937760" cy="11029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F8FAFC"/>
                </a:solidFill>
                <a:latin typeface="Aptos"/>
              </a:defRPr>
            </a:pPr>
            <a:r>
              <a:rPr dirty="0"/>
              <a:t>Member 1</a:t>
            </a:r>
            <a:r>
              <a:rPr lang="en-US" dirty="0"/>
              <a:t>: </a:t>
            </a:r>
            <a:r>
              <a:rPr lang="en-US" u="sng" dirty="0">
                <a:sym typeface="+mn-ea"/>
              </a:rPr>
              <a:t>Srija </a:t>
            </a:r>
            <a:r>
              <a:rPr lang="en-US" u="sng" dirty="0" err="1">
                <a:sym typeface="+mn-ea"/>
              </a:rPr>
              <a:t>Marripelli</a:t>
            </a:r>
            <a:r>
              <a:rPr lang="en-US" dirty="0">
                <a:sym typeface="+mn-ea"/>
              </a:rPr>
              <a:t> (MT/AI/10025/26)</a:t>
            </a:r>
            <a:r>
              <a:rPr dirty="0"/>
              <a:t> </a:t>
            </a:r>
            <a:endParaRPr lang="en-US" dirty="0"/>
          </a:p>
          <a:p>
            <a:pPr algn="l">
              <a:spcAft>
                <a:spcPts val="600"/>
              </a:spcAft>
              <a:defRPr sz="1300" b="0" i="0">
                <a:solidFill>
                  <a:srgbClr val="F8FAFC"/>
                </a:solidFill>
                <a:latin typeface="Aptos"/>
              </a:defRPr>
            </a:pPr>
            <a:r>
              <a:rPr dirty="0"/>
              <a:t>Member 2:</a:t>
            </a:r>
            <a:r>
              <a:rPr lang="en-US" dirty="0"/>
              <a:t> </a:t>
            </a:r>
            <a:r>
              <a:rPr lang="en-US" u="sng" dirty="0"/>
              <a:t>Apoorva</a:t>
            </a:r>
            <a:r>
              <a:rPr lang="en-US" dirty="0"/>
              <a:t> (MT/AI/10028/26)</a:t>
            </a:r>
            <a:endParaRPr dirty="0"/>
          </a:p>
          <a:p>
            <a:pPr algn="l">
              <a:spcAft>
                <a:spcPts val="600"/>
              </a:spcAft>
              <a:defRPr sz="1300" b="0" i="0">
                <a:solidFill>
                  <a:srgbClr val="F8FAFC"/>
                </a:solidFill>
                <a:latin typeface="Aptos"/>
              </a:defRPr>
            </a:pPr>
            <a:r>
              <a:rPr dirty="0"/>
              <a:t>Member 3:</a:t>
            </a:r>
            <a:r>
              <a:rPr lang="en-US" dirty="0"/>
              <a:t> </a:t>
            </a:r>
            <a:r>
              <a:rPr lang="en-US" u="sng" dirty="0">
                <a:sym typeface="+mn-ea"/>
              </a:rPr>
              <a:t>Ayushi Mishra</a:t>
            </a:r>
            <a:r>
              <a:rPr lang="en-US" dirty="0">
                <a:sym typeface="+mn-ea"/>
              </a:rPr>
              <a:t> (MT/AI/10017/26)</a:t>
            </a:r>
            <a:endParaRPr lang="en-US" dirty="0"/>
          </a:p>
          <a:p>
            <a:pPr algn="l">
              <a:spcAft>
                <a:spcPts val="600"/>
              </a:spcAft>
              <a:defRPr sz="1300" b="0" i="0">
                <a:solidFill>
                  <a:srgbClr val="F8FAFC"/>
                </a:solidFill>
                <a:latin typeface="Aptos"/>
              </a:defRPr>
            </a:pPr>
            <a:endParaRPr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F104AC-945C-AE4F-CE7C-E5C85085A6CF}"/>
              </a:ext>
            </a:extLst>
          </p:cNvPr>
          <p:cNvSpPr txBox="1"/>
          <p:nvPr/>
        </p:nvSpPr>
        <p:spPr>
          <a:xfrm>
            <a:off x="10835640" y="6446520"/>
            <a:ext cx="822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A5B5C7"/>
                </a:solidFill>
                <a:latin typeface="Aptos"/>
              </a:defRPr>
            </a:pPr>
            <a:r>
              <a:t>01  /  15</a:t>
            </a:r>
          </a:p>
        </p:txBody>
      </p:sp>
      <p:sp>
        <p:nvSpPr>
          <p:cNvPr id="66" name="Rounded Rectangle 14">
            <a:extLst>
              <a:ext uri="{FF2B5EF4-FFF2-40B4-BE49-F238E27FC236}">
                <a16:creationId xmlns:a16="http://schemas.microsoft.com/office/drawing/2014/main" id="{5B8D1CBE-CD28-5F28-4AC5-7B8DE0B864E2}"/>
              </a:ext>
            </a:extLst>
          </p:cNvPr>
          <p:cNvSpPr/>
          <p:nvPr/>
        </p:nvSpPr>
        <p:spPr>
          <a:xfrm>
            <a:off x="735453" y="4535424"/>
            <a:ext cx="1250663" cy="393831"/>
          </a:xfrm>
          <a:prstGeom prst="round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28A36B-7D34-C865-5C9D-8CECFE2A09AE}"/>
              </a:ext>
            </a:extLst>
          </p:cNvPr>
          <p:cNvSpPr txBox="1"/>
          <p:nvPr/>
        </p:nvSpPr>
        <p:spPr>
          <a:xfrm>
            <a:off x="822472" y="4591446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3FC4D2"/>
                </a:solidFill>
                <a:latin typeface="Aptos"/>
              </a:defRPr>
            </a:pPr>
            <a:r>
              <a:rPr lang="en-US" dirty="0"/>
              <a:t>GROUP NO. 8</a:t>
            </a:r>
            <a:endParaRPr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2BC3EFC-6875-6AB9-E864-028E94041F9C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10896"/>
            <a:ext cx="109728" cy="109728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DCEE"/>
                </a:solidFill>
                <a:latin typeface="Aptos"/>
              </a:defRPr>
            </a:pPr>
            <a:r>
              <a:t>01 •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4F9FF"/>
                </a:solidFill>
                <a:latin typeface="Aptos Display"/>
              </a:defRPr>
            </a:pPr>
            <a:r>
              <a:t>The real-world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Phishing messages exploit trust, urgency, and familiar-looking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0C2D8"/>
                </a:solidFill>
                <a:latin typeface="Aptos"/>
              </a:defRPr>
            </a:pPr>
            <a:r>
              <a:t>02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520440" cy="233172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311810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3DCEE"/>
                </a:solidFill>
                <a:latin typeface="Aptos"/>
              </a:defRPr>
            </a:pPr>
            <a:r>
              <a:t>THE THREAT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96312"/>
            <a:ext cx="3118104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4F9FF"/>
                </a:solidFill>
                <a:latin typeface="Aptos"/>
              </a:defRPr>
            </a:pPr>
            <a:r>
              <a:t>Messages imitate banks, delivery services, employers, or account-support teams to prompt unsafe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233172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2039112"/>
            <a:ext cx="311810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9BFB1"/>
                </a:solidFill>
                <a:latin typeface="Aptos"/>
              </a:defRPr>
            </a:pPr>
            <a:r>
              <a:t>THE DETECTION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96312"/>
            <a:ext cx="3118104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4F9FF"/>
                </a:solidFill>
                <a:latin typeface="Aptos"/>
              </a:defRPr>
            </a:pPr>
            <a:r>
              <a:t>A detector must distinguish malicious intent from legitimate messages that may use similar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74519"/>
            <a:ext cx="3520440" cy="233172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2039112"/>
            <a:ext cx="311810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45C"/>
                </a:solidFill>
                <a:latin typeface="Aptos"/>
              </a:defRPr>
            </a:pPr>
            <a:r>
              <a:t>THE ROBUSTNESS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496312"/>
            <a:ext cx="3118104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4F9FF"/>
                </a:solidFill>
                <a:latin typeface="Aptos"/>
              </a:defRPr>
            </a:pPr>
            <a:r>
              <a:t>If wording changes but intent stays the same, does the model still classify the message correctly?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17720"/>
            <a:ext cx="10835640" cy="960120"/>
          </a:xfrm>
          <a:prstGeom prst="roundRect">
            <a:avLst/>
          </a:prstGeom>
          <a:solidFill>
            <a:srgbClr val="0C1D3A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828032"/>
            <a:ext cx="103327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4F9FF"/>
                </a:solidFill>
                <a:latin typeface="Aptos"/>
              </a:defRPr>
            </a:pPr>
            <a:r>
              <a:t>Project focus: compare text-classification models and check whether synthetic rewording changes their measured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55664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0C2D8"/>
                </a:solidFill>
                <a:latin typeface="Aptos"/>
              </a:defRPr>
            </a:pPr>
            <a:r>
              <a:t>PHISHING TEXT DETECTION  •  NLP + CYBERSECURITY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10896"/>
            <a:ext cx="109728" cy="109728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DCEE"/>
                </a:solidFill>
                <a:latin typeface="Aptos"/>
              </a:defRPr>
            </a:pPr>
            <a:r>
              <a:t>02 • STUDY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4F9FF"/>
                </a:solidFill>
                <a:latin typeface="Aptos Display"/>
              </a:defRPr>
            </a:pPr>
            <a:r>
              <a:t>Research question &amp;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A focused comparison of lexical and sentence-level representations.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0C2D8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6629400" cy="1874519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029968"/>
            <a:ext cx="6126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3DCEE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68880"/>
            <a:ext cx="60350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F4F9FF"/>
                </a:solidFill>
                <a:latin typeface="Aptos"/>
              </a:defRPr>
            </a:pPr>
            <a:r>
              <a:t>Which tested model best classifies phishing text, and how do its results change after selected words are reworded?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828800"/>
            <a:ext cx="3749039" cy="1874519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82127" y="2029968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9BFB1"/>
                </a:solidFill>
                <a:latin typeface="Aptos"/>
              </a:defRPr>
            </a:pPr>
            <a:r>
              <a:t>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468880"/>
            <a:ext cx="32461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F4F9FF"/>
                </a:solidFill>
                <a:latin typeface="Aptos"/>
              </a:defRPr>
            </a:pPr>
            <a:r>
              <a:t>TF-IDF with a linear classifier will be a strong baseline; wording changes may affect lexical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5303520" cy="132588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233672"/>
            <a:ext cx="4901183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3DCEE"/>
                </a:solidFill>
                <a:latin typeface="Aptos"/>
              </a:defRPr>
            </a:pPr>
            <a:r>
              <a:t>WHAT WE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690872"/>
            <a:ext cx="4901183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4F9FF"/>
                </a:solidFill>
                <a:latin typeface="Aptos"/>
              </a:defRPr>
            </a:pPr>
            <a:r>
              <a:t>Logistic Regression, Linear SVM, and sentence embeddings + Logistic Regression.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69080"/>
            <a:ext cx="5120640" cy="132588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4233672"/>
            <a:ext cx="4718303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9BFB1"/>
                </a:solidFill>
                <a:latin typeface="Aptos"/>
              </a:defRPr>
            </a:pPr>
            <a:r>
              <a:t>WHAT WE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4690872"/>
            <a:ext cx="4718303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4F9FF"/>
                </a:solidFill>
                <a:latin typeface="Aptos"/>
              </a:defRPr>
            </a:pPr>
            <a:r>
              <a:t>Accuracy, phishing precision/recall, Macro F1, and MCC.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55664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0C2D8"/>
                </a:solidFill>
                <a:latin typeface="Aptos"/>
              </a:defRPr>
            </a:pPr>
            <a:r>
              <a:t>PHISHING TEXT DETECTION  •  NLP + CYBERSECURITY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10896"/>
            <a:ext cx="109728" cy="109728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DCEE"/>
                </a:solidFill>
                <a:latin typeface="Aptos"/>
              </a:defRPr>
            </a:pPr>
            <a:r>
              <a:t>03 •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4F9FF"/>
                </a:solidFill>
                <a:latin typeface="Aptos Display"/>
              </a:defRPr>
            </a:pPr>
            <a:r>
              <a:t>Dataset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Summary of the supplied CSV; confirm the label mapping before final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0C2D8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7560" cy="123444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93392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23DCEE"/>
                </a:solidFill>
                <a:latin typeface="Aptos"/>
              </a:defRPr>
            </a:pPr>
            <a:r>
              <a:t>82,486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60320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B0C2D8"/>
                </a:solidFill>
                <a:latin typeface="Aptos"/>
              </a:defRPr>
            </a:pPr>
            <a:r>
              <a:t>raw CSV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123444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993392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29BFB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560320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B0C2D8"/>
                </a:solidFill>
                <a:latin typeface="Aptos"/>
              </a:defRPr>
            </a:pPr>
            <a:r>
              <a:t>columns: text_combined, label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337560" cy="123444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993392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FFC45C"/>
                </a:solidFill>
                <a:latin typeface="Aptos"/>
              </a:defRPr>
            </a:pPr>
            <a:r>
              <a:t>52.0%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560320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B0C2D8"/>
                </a:solidFill>
                <a:latin typeface="Aptos"/>
              </a:defRPr>
            </a:pPr>
            <a:r>
              <a:t>label 1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5212080" cy="169164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639312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3DCEE"/>
                </a:solidFill>
                <a:latin typeface="Aptos"/>
              </a:defRPr>
            </a:pPr>
            <a:r>
              <a:t>LABEL COUNTS IN RAW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45720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F4F9FF"/>
                </a:solidFill>
                <a:latin typeface="Aptos"/>
              </a:defRPr>
            </a:pPr>
            <a:r>
              <a:t>Label 0: 39,595</a:t>
            </a:r>
          </a:p>
          <a:p>
            <a:pPr algn="l">
              <a:spcAft>
                <a:spcPts val="500"/>
              </a:spcAft>
              <a:defRPr sz="1700" b="1" i="0">
                <a:solidFill>
                  <a:srgbClr val="F4F9FF"/>
                </a:solidFill>
                <a:latin typeface="Aptos"/>
              </a:defRPr>
            </a:pPr>
            <a:r>
              <a:t>Label 1: 42,891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29000"/>
            <a:ext cx="5257800" cy="169164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639312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9BFB1"/>
                </a:solidFill>
                <a:latin typeface="Aptos"/>
              </a:defRPr>
            </a:pPr>
            <a:r>
              <a:t>DATA CHECKS TO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4663440" cy="9144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4F9FF"/>
                </a:solidFill>
                <a:latin typeface="Aptos"/>
              </a:defRPr>
            </a:pPr>
            <a:r>
              <a:t>•  Verify whether 0 = legitimate and 1 = phishing.</a:t>
            </a:r>
          </a:p>
          <a:p>
            <a:pPr>
              <a:spcAft>
                <a:spcPts val="1100"/>
              </a:spcAft>
              <a:defRPr sz="1200">
                <a:solidFill>
                  <a:srgbClr val="F4F9FF"/>
                </a:solidFill>
                <a:latin typeface="Aptos"/>
              </a:defRPr>
            </a:pPr>
            <a:r>
              <a:t>•  Check duplicates, missing text, and post-cleaning row count.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 i="1">
                <a:solidFill>
                  <a:srgbClr val="B0C2D8"/>
                </a:solidFill>
                <a:latin typeface="Aptos"/>
              </a:defRPr>
            </a:pPr>
            <a:r>
              <a:t>The supplied project files use the text_combined field as input and label as the target.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55664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0C2D8"/>
                </a:solidFill>
                <a:latin typeface="Aptos"/>
              </a:defRPr>
            </a:pPr>
            <a:r>
              <a:t>PHISHING TEXT DETECTION  •  NLP + CYBERSECURITY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10896"/>
            <a:ext cx="109728" cy="109728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DCEE"/>
                </a:solidFill>
                <a:latin typeface="Aptos"/>
              </a:defRPr>
            </a:pPr>
            <a:r>
              <a:t>04 •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4F9FF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One pipeline, three model configurations, and an original-versus-modified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0C2D8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2057400" cy="182880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95144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3DC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1783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4F9FF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17830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Labelled email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2880360"/>
            <a:ext cx="301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23DCE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2148840"/>
            <a:ext cx="2057400" cy="182880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36392" y="2295144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9BF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715768"/>
            <a:ext cx="1783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4F9FF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136392"/>
            <a:ext cx="17830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Clean and split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880360"/>
            <a:ext cx="301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23DCE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2664" y="2148840"/>
            <a:ext cx="2057400" cy="182880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49824" y="2295144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3DC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9824" y="2715768"/>
            <a:ext cx="1783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4F9FF"/>
                </a:solidFill>
                <a:latin typeface="Aptos"/>
              </a:defRPr>
            </a:pPr>
            <a:r>
              <a:t>REPRESENT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3136392"/>
            <a:ext cx="17830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TF-IDF or sentence 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880360"/>
            <a:ext cx="301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23DCE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6096" y="2148840"/>
            <a:ext cx="2057400" cy="182880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63256" y="2295144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9BF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715768"/>
            <a:ext cx="1783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4F9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3136392"/>
            <a:ext cx="17830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LR / Linear SVM / 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880360"/>
            <a:ext cx="301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23DCE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9528" y="2148840"/>
            <a:ext cx="2057400" cy="182880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76688" y="2295144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3DC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2715768"/>
            <a:ext cx="1783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4F9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3136392"/>
            <a:ext cx="17830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Score original and modified 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480560"/>
            <a:ext cx="10789920" cy="868680"/>
          </a:xfrm>
          <a:prstGeom prst="roundRect">
            <a:avLst/>
          </a:prstGeom>
          <a:solidFill>
            <a:srgbClr val="0C1D3A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470916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4F9FF"/>
                </a:solidFill>
                <a:latin typeface="Aptos"/>
              </a:defRPr>
            </a:pPr>
            <a:r>
              <a:t>Fair comparison: fit preprocessing and models on training data, then evaluate held-out examples.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455664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0C2D8"/>
                </a:solidFill>
                <a:latin typeface="Aptos"/>
              </a:defRPr>
            </a:pPr>
            <a:r>
              <a:t>PHISHING TEXT DETECTION  •  NLP + CYBERSECURITY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10896"/>
            <a:ext cx="109728" cy="109728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DCEE"/>
                </a:solidFill>
                <a:latin typeface="Aptos"/>
              </a:defRPr>
            </a:pPr>
            <a:r>
              <a:t>05 •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4F9FF"/>
                </a:solidFill>
                <a:latin typeface="Aptos Display"/>
              </a:defRPr>
            </a:pPr>
            <a: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Three classifiers were compared using the metrics recorded in the supplied results.csv.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0C2D8"/>
                </a:solidFill>
                <a:latin typeface="Aptos"/>
              </a:defRPr>
            </a:pPr>
            <a:r>
              <a:t>06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233172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302666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3DCEE"/>
                </a:solidFill>
                <a:latin typeface="Aptos"/>
              </a:defRPr>
            </a:pPr>
            <a:r>
              <a:t>MODEL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96312"/>
            <a:ext cx="3026664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TF-IDF + Logistic Regression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Sparse word-weight features with a linear classifier.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233172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2666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9BFB1"/>
                </a:solidFill>
                <a:latin typeface="Aptos"/>
              </a:defRPr>
            </a:pPr>
            <a:r>
              <a:t>MODEL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96312"/>
            <a:ext cx="3026664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TF-IDF + Linear SVM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Sparse word-weight features with a maximum-margin classifier.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429000" cy="233172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039112"/>
            <a:ext cx="302666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45C"/>
                </a:solidFill>
                <a:latin typeface="Aptos"/>
              </a:defRPr>
            </a:pPr>
            <a:r>
              <a:t>MODEL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96312"/>
            <a:ext cx="3026664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Sentence Embeddings + Logistic Regression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Dense sentence representations with a linear classifier.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0744200" cy="960120"/>
          </a:xfrm>
          <a:prstGeom prst="roundRect">
            <a:avLst/>
          </a:prstGeom>
          <a:solidFill>
            <a:srgbClr val="0C1D3A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75488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Metrics: Accuracy • phishing precision • phishing recall • Macro F1 • MCC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Robustness check: compare recorded metrics for original and synthetically modified 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55664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0C2D8"/>
                </a:solidFill>
                <a:latin typeface="Aptos"/>
              </a:defRPr>
            </a:pPr>
            <a:r>
              <a:t>PHISHING TEXT DETECTION  •  NLP + CYBERSECURITY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10896"/>
            <a:ext cx="109728" cy="109728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DCEE"/>
                </a:solidFill>
                <a:latin typeface="Aptos"/>
              </a:defRPr>
            </a:pPr>
            <a:r>
              <a:t>06 •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4F9FF"/>
                </a:solidFill>
                <a:latin typeface="Aptos Display"/>
              </a:defRPr>
            </a:pPr>
            <a:r>
              <a:t>Results on the original test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Values below are taken directly from the supplied results.csv.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0C2D8"/>
                </a:solidFill>
                <a:latin typeface="Aptos"/>
              </a:defRPr>
            </a:pPr>
            <a:r>
              <a:t>07 / 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74519"/>
          <a:ext cx="1065275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71127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109728" marR="73152" marB="27432">
                    <a:solidFill>
                      <a:srgbClr val="23D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71127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109728" marR="73152" marB="27432">
                    <a:solidFill>
                      <a:srgbClr val="23D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71127"/>
                          </a:solidFill>
                          <a:latin typeface="Aptos"/>
                        </a:defRPr>
                      </a:pPr>
                      <a:r>
                        <a:t>MACRO F1</a:t>
                      </a:r>
                    </a:p>
                  </a:txBody>
                  <a:tcPr marL="109728" marR="73152" marB="27432">
                    <a:solidFill>
                      <a:srgbClr val="23D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71127"/>
                          </a:solidFill>
                          <a:latin typeface="Aptos"/>
                        </a:defRPr>
                      </a:pPr>
                      <a:r>
                        <a:t>MCC</a:t>
                      </a:r>
                    </a:p>
                  </a:txBody>
                  <a:tcPr marL="109728" marR="73152" marB="27432">
                    <a:solidFill>
                      <a:srgbClr val="23D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TF-IDF + Logistic Regression</a:t>
                      </a:r>
                    </a:p>
                  </a:txBody>
                  <a:tcPr marL="109728" marR="73152" marB="27432"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98.95%</a:t>
                      </a:r>
                    </a:p>
                  </a:txBody>
                  <a:tcPr marL="109728" marR="73152" marB="27432"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98.95%</a:t>
                      </a:r>
                    </a:p>
                  </a:txBody>
                  <a:tcPr marL="109728" marR="73152" marB="27432"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0.9790</a:t>
                      </a:r>
                    </a:p>
                  </a:txBody>
                  <a:tcPr marL="109728" marR="73152" marB="27432">
                    <a:solidFill>
                      <a:srgbClr val="0C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TF-IDF + Linear SVM</a:t>
                      </a:r>
                    </a:p>
                  </a:txBody>
                  <a:tcPr marL="109728" marR="73152" marB="27432">
                    <a:solidFill>
                      <a:srgbClr val="11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99.33%</a:t>
                      </a:r>
                    </a:p>
                  </a:txBody>
                  <a:tcPr marL="109728" marR="73152" marB="27432">
                    <a:solidFill>
                      <a:srgbClr val="11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99.32%</a:t>
                      </a:r>
                    </a:p>
                  </a:txBody>
                  <a:tcPr marL="109728" marR="73152" marB="27432">
                    <a:solidFill>
                      <a:srgbClr val="112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0.9865</a:t>
                      </a:r>
                    </a:p>
                  </a:txBody>
                  <a:tcPr marL="109728" marR="73152" marB="27432">
                    <a:solidFill>
                      <a:srgbClr val="11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Sentence Embeddings + LR</a:t>
                      </a:r>
                    </a:p>
                  </a:txBody>
                  <a:tcPr marL="109728" marR="73152" marB="27432"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94.40%</a:t>
                      </a:r>
                    </a:p>
                  </a:txBody>
                  <a:tcPr marL="109728" marR="73152" marB="27432"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94.39%</a:t>
                      </a:r>
                    </a:p>
                  </a:txBody>
                  <a:tcPr marL="109728" marR="73152" marB="27432"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4F9FF"/>
                          </a:solidFill>
                          <a:latin typeface="Aptos"/>
                        </a:defRPr>
                      </a:pPr>
                      <a:r>
                        <a:t>0.8878</a:t>
                      </a:r>
                    </a:p>
                  </a:txBody>
                  <a:tcPr marL="109728" marR="73152" marB="27432">
                    <a:solidFill>
                      <a:srgbClr val="0C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4389120"/>
            <a:ext cx="4983480" cy="105156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4572000"/>
            <a:ext cx="45720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4F9FF"/>
                </a:solidFill>
                <a:latin typeface="Aptos"/>
              </a:defRPr>
            </a:pPr>
            <a:r>
              <a:t>Best reported original-test result:</a:t>
            </a:r>
          </a:p>
          <a:p>
            <a:pPr algn="l">
              <a:spcAft>
                <a:spcPts val="500"/>
              </a:spcAft>
              <a:defRPr sz="1400" b="1" i="0">
                <a:solidFill>
                  <a:srgbClr val="F4F9FF"/>
                </a:solidFill>
                <a:latin typeface="Aptos"/>
              </a:defRPr>
            </a:pPr>
            <a:r>
              <a:t>TF-IDF + Linear SVM (99.33% accuracy)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389120"/>
            <a:ext cx="5394960" cy="105156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4572000"/>
            <a:ext cx="48920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4F9FF"/>
                </a:solidFill>
                <a:latin typeface="Aptos"/>
              </a:defRPr>
            </a:pPr>
            <a:r>
              <a:t>Important: all original/modified metric rows match exactly in results.csv.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55664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0C2D8"/>
                </a:solidFill>
                <a:latin typeface="Aptos"/>
              </a:defRPr>
            </a:pPr>
            <a:r>
              <a:t>PHISHING TEXT DETECTION  •  NLP + CYBERSECURITY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10896"/>
            <a:ext cx="109728" cy="109728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DCEE"/>
                </a:solidFill>
                <a:latin typeface="Aptos"/>
              </a:defRPr>
            </a:pPr>
            <a:r>
              <a:t>07 • CRITICAL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4F9FF"/>
                </a:solidFill>
                <a:latin typeface="Aptos Display"/>
              </a:defRPr>
            </a:pPr>
            <a:r>
              <a:t>Interesting result &amp; failure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The most important finding is also a limitation in the current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0C2D8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66360" cy="192024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029968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9BFB1"/>
                </a:solidFill>
                <a:latin typeface="Aptos"/>
              </a:defRPr>
            </a:pPr>
            <a:r>
              <a:t>ILLUSTRATIVE REWORDING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68880"/>
            <a:ext cx="45720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4F9FF"/>
                </a:solidFill>
                <a:latin typeface="Aptos"/>
              </a:defRPr>
            </a:pPr>
            <a:r>
              <a:t>Original: “Verify your account immediately.”</a:t>
            </a:r>
          </a:p>
          <a:p>
            <a:pPr algn="l">
              <a:spcAft>
                <a:spcPts val="500"/>
              </a:spcAft>
              <a:defRPr sz="1600" b="1" i="0">
                <a:solidFill>
                  <a:srgbClr val="F4F9FF"/>
                </a:solidFill>
                <a:latin typeface="Aptos"/>
              </a:defRPr>
            </a:pPr>
            <a:r>
              <a:t>Modified: “Confirm your account right away.”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257800" cy="192024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FF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029968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F737D"/>
                </a:solidFill>
                <a:latin typeface="Aptos"/>
              </a:defRPr>
            </a:pPr>
            <a:r>
              <a:t>EVIDENCE GAP / FAILURE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46634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4F9FF"/>
                </a:solidFill>
                <a:latin typeface="Aptos"/>
              </a:defRPr>
            </a:pPr>
            <a:r>
              <a:t>Reported metrics are identical before and after modification for all three models; this does not yet demonstrate robustness.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10698480" cy="1143000"/>
          </a:xfrm>
          <a:prstGeom prst="roundRect">
            <a:avLst/>
          </a:prstGeom>
          <a:solidFill>
            <a:srgbClr val="0C1D3A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89120"/>
            <a:ext cx="100584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4F9FF"/>
                </a:solidFill>
                <a:latin typeface="Aptos"/>
              </a:defRPr>
            </a:pPr>
            <a:r>
              <a:t>Next diagnostic: inspect modified samples, verify labels and transformations, rerun predictions, and recompute every metric from the new predictions.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55664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0C2D8"/>
                </a:solidFill>
                <a:latin typeface="Aptos"/>
              </a:defRPr>
            </a:pPr>
            <a:r>
              <a:t>PHISHING TEXT DETECTION  •  NLP + CYBERSECURITY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10896"/>
            <a:ext cx="109728" cy="109728"/>
          </a:xfrm>
          <a:prstGeom prst="rect">
            <a:avLst/>
          </a:prstGeom>
          <a:solidFill>
            <a:srgbClr val="2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3DCEE"/>
                </a:solidFill>
                <a:latin typeface="Aptos"/>
              </a:defRPr>
            </a:pPr>
            <a:r>
              <a:t>08 •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4F9FF"/>
                </a:solidFill>
                <a:latin typeface="Aptos Display"/>
              </a:defRPr>
            </a:pPr>
            <a:r>
              <a:t>Conclusion, limitations &amp; future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B0C2D8"/>
                </a:solidFill>
                <a:latin typeface="Aptos"/>
              </a:defRPr>
            </a:pPr>
            <a:r>
              <a:t>Close with what the current evidence supports—and what still needs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B0C2D8"/>
                </a:solidFill>
                <a:latin typeface="Aptos"/>
              </a:defRPr>
            </a:pPr>
            <a:r>
              <a:t>09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29000" cy="246888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302666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3DCE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50592"/>
            <a:ext cx="3026664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TF-IDF + Linear SVM has the strongest reported original-test scores among the three configurations.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246888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FF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2666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737D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50592"/>
            <a:ext cx="3026664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Original and modified metrics are exactly identical in the supplied file; robustness is therefore unconfirmed.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2468880"/>
          </a:xfrm>
          <a:prstGeom prst="roundRect">
            <a:avLst/>
          </a:prstGeom>
          <a:solidFill>
            <a:srgbClr val="112747"/>
          </a:solidFill>
          <a:ln w="13970">
            <a:solidFill>
              <a:srgbClr val="2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93392"/>
            <a:ext cx="302666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9BFB1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50592"/>
            <a:ext cx="3026664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4F9FF"/>
                </a:solidFill>
                <a:latin typeface="Aptos"/>
              </a:defRPr>
            </a:pPr>
            <a:r>
              <a:t>Validate label mapping, inspect sample edits, test stronger paraphrases, and rerun metrics from predictions.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0744200" cy="868680"/>
          </a:xfrm>
          <a:prstGeom prst="roundRect">
            <a:avLst/>
          </a:prstGeom>
          <a:solidFill>
            <a:srgbClr val="0C1D3A"/>
          </a:solidFill>
          <a:ln w="13970">
            <a:solidFill>
              <a:srgbClr val="23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919472"/>
            <a:ext cx="10149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F4F9FF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55664"/>
            <a:ext cx="79552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0C2D8"/>
                </a:solidFill>
                <a:latin typeface="Aptos"/>
              </a:defRPr>
            </a:pPr>
            <a:r>
              <a:t>PHISHING TEXT DETECTION  •  NLP + CYBERSECURITY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831</Words>
  <Application>Microsoft Office PowerPoint</Application>
  <PresentationFormat>Widescreen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Ayushi Mishra</cp:lastModifiedBy>
  <cp:revision>3</cp:revision>
  <dcterms:created xsi:type="dcterms:W3CDTF">2013-01-27T09:14:16Z</dcterms:created>
  <dcterms:modified xsi:type="dcterms:W3CDTF">2026-10-21T06:22:59Z</dcterms:modified>
  <cp:category/>
</cp:coreProperties>
</file>