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91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ushi Mishra" userId="7c5edd628cb62bd8" providerId="LiveId" clId="{E9FE1257-5420-4FEA-ABFD-79F6754DB202}"/>
    <pc:docChg chg="modSld sldOrd">
      <pc:chgData name="Ayushi Mishra" userId="7c5edd628cb62bd8" providerId="LiveId" clId="{E9FE1257-5420-4FEA-ABFD-79F6754DB202}" dt="2026-10-20T12:56:03.119" v="1"/>
      <pc:docMkLst>
        <pc:docMk/>
      </pc:docMkLst>
      <pc:sldChg chg="ord">
        <pc:chgData name="Ayushi Mishra" userId="7c5edd628cb62bd8" providerId="LiveId" clId="{E9FE1257-5420-4FEA-ABFD-79F6754DB202}" dt="2026-10-20T12:56:03.119" v="1"/>
        <pc:sldMkLst>
          <pc:docMk/>
          <pc:sldMk cId="0" sldId="272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Macro-F1 (original test set)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chemeClr val="accent1">
                  <a:alpha val="85000"/>
                </a:schemeClr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2090-4636-8A66-271D2A6032C4}"/>
              </c:ext>
            </c:extLst>
          </c:dPt>
          <c:dPt>
            <c:idx val="1"/>
            <c:invertIfNegative val="1"/>
            <c:bubble3D val="0"/>
            <c:spPr>
              <a:solidFill>
                <a:schemeClr val="accent2">
                  <a:alpha val="85000"/>
                </a:schemeClr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2090-4636-8A66-271D2A6032C4}"/>
              </c:ext>
            </c:extLst>
          </c:dPt>
          <c:dPt>
            <c:idx val="2"/>
            <c:invertIfNegative val="1"/>
            <c:bubble3D val="0"/>
            <c:spPr>
              <a:solidFill>
                <a:schemeClr val="accent3">
                  <a:alpha val="85000"/>
                </a:schemeClr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2090-4636-8A66-271D2A6032C4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195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TF-IDF + LR</c:v>
                </c:pt>
                <c:pt idx="1">
                  <c:v>TF-IDF + Linear SVM</c:v>
                </c:pt>
                <c:pt idx="2">
                  <c:v>Sentence Embeddings + LR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0.98948188517674596</c:v>
                </c:pt>
                <c:pt idx="1">
                  <c:v>0.993238213784014</c:v>
                </c:pt>
                <c:pt idx="2">
                  <c:v>0.94389866696721003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090-4636-8A66-271D2A6032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19050" cap="flat" cmpd="sng" algn="ctr">
            <a:solidFill>
              <a:schemeClr val="dk1">
                <a:lumMod val="75000"/>
                <a:lumOff val="2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5" b="0" i="0" u="none" strike="noStrike" kern="1200" cap="all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t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95000"/>
                      <a:lumOff val="5000"/>
                      <a:alpha val="42000"/>
                    </a:schemeClr>
                  </a:gs>
                  <a:gs pos="0">
                    <a:schemeClr val="lt1">
                      <a:lumMod val="75000"/>
                      <a:alpha val="36000"/>
                    </a:schemeClr>
                  </a:gs>
                </a:gsLst>
                <a:lin ang="5400000" scaled="0"/>
              </a:gra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5" b="0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  <c:extLst>
      <c:ext uri="{0b15fc19-7d7d-44ad-8c2d-2c3a37ce22c3}">
        <chartProps xmlns="https://web.wps.cn/et/2018/main" chartId="{a3abf476-746a-4115-b9ab-5f4f17fcc728}"/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 lang="en-US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Macro-F1 by test condition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Macro-F1</c:v>
                </c:pt>
              </c:strCache>
            </c:strRef>
          </c:tx>
          <c:spPr>
            <a:solidFill>
              <a:srgbClr val="0F6FC6">
                <a:alpha val="84706"/>
              </a:srgb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1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195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TF-IDF + LR</c:v>
                </c:pt>
                <c:pt idx="1">
                  <c:v>TF-IDF + Linear SVM</c:v>
                </c:pt>
                <c:pt idx="2">
                  <c:v>Sentence Embeddings + LR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0.98948188517674596</c:v>
                </c:pt>
                <c:pt idx="1">
                  <c:v>0.993238213784014</c:v>
                </c:pt>
                <c:pt idx="2">
                  <c:v>0.94389866696721003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 cap="flat" cmpd="sng" algn="ctr">
                    <a:solidFill>
                      <a:schemeClr val="lt1">
                        <a:alpha val="50000"/>
                      </a:schemeClr>
                    </a:solidFill>
                    <a:round/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0-37BE-4601-B4C9-902277563EC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Modified Macro-F1</c:v>
                </c:pt>
              </c:strCache>
            </c:strRef>
          </c:tx>
          <c:spPr>
            <a:solidFill>
              <a:srgbClr val="009DD9">
                <a:alpha val="84706"/>
              </a:srgb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1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195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TF-IDF + LR</c:v>
                </c:pt>
                <c:pt idx="1">
                  <c:v>TF-IDF + Linear SVM</c:v>
                </c:pt>
                <c:pt idx="2">
                  <c:v>Sentence Embeddings + LR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0.98948188517674596</c:v>
                </c:pt>
                <c:pt idx="1">
                  <c:v>0.993238213784014</c:v>
                </c:pt>
                <c:pt idx="2">
                  <c:v>0.94389866696721003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 cap="flat" cmpd="sng" algn="ctr">
                    <a:solidFill>
                      <a:schemeClr val="lt1">
                        <a:alpha val="50000"/>
                      </a:schemeClr>
                    </a:solidFill>
                    <a:round/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1-37BE-4601-B4C9-902277563EC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19050" cap="flat" cmpd="sng" algn="ctr">
            <a:solidFill>
              <a:schemeClr val="dk1">
                <a:lumMod val="75000"/>
                <a:lumOff val="2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5" b="0" i="0" u="none" strike="noStrike" kern="1200" cap="all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b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95000"/>
                      <a:lumOff val="5000"/>
                      <a:alpha val="42000"/>
                    </a:schemeClr>
                  </a:gs>
                  <a:gs pos="0">
                    <a:schemeClr val="lt1">
                      <a:lumMod val="75000"/>
                      <a:alpha val="36000"/>
                    </a:schemeClr>
                  </a:gs>
                </a:gsLst>
                <a:lin ang="5400000" scaled="0"/>
              </a:gra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5" b="0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195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  <c:extLst>
      <c:ext uri="{0b15fc19-7d7d-44ad-8c2d-2c3a37ce22c3}">
        <chartProps xmlns="https://web.wps.cn/et/2018/main" chartId="{78b5603b-76a5-4eb6-8be4-f662b4468114}"/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 lang="en-US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8EBC4-13ED-4327-92F6-DEEABF5D1236}" type="datetimeFigureOut">
              <a:rPr lang="en-IN" smtClean="0"/>
              <a:t>20-10-2026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432FC8-A3B2-4752-B21F-52B77BC9E3F2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32FC8-A3B2-4752-B21F-52B77BC9E3F2}" type="slidenum">
              <a:rPr lang="en-IN" smtClean="0"/>
              <a:t>1</a:t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32FC8-A3B2-4752-B21F-52B77BC9E3F2}" type="slidenum">
              <a:rPr lang="en-IN" smtClean="0"/>
              <a:t>12</a:t>
            </a:fld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32FC8-A3B2-4752-B21F-52B77BC9E3F2}" type="slidenum">
              <a:rPr lang="en-IN" smtClean="0"/>
              <a:t>16</a:t>
            </a:fld>
            <a:endParaRPr lang="en-I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32FC8-A3B2-4752-B21F-52B77BC9E3F2}" type="slidenum">
              <a:rPr lang="en-IN" smtClean="0"/>
              <a:t>17</a:t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235440" y="914400"/>
            <a:ext cx="201168" cy="201168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98480" y="1645920"/>
            <a:ext cx="137160" cy="13716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875520" y="2926080"/>
            <a:ext cx="164592" cy="164592"/>
          </a:xfrm>
          <a:prstGeom prst="ellipse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972800" y="4023360"/>
            <a:ext cx="219456" cy="219456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0" y="5212080"/>
            <a:ext cx="146304" cy="146304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9326880" y="1005840"/>
            <a:ext cx="1371600" cy="731520"/>
          </a:xfrm>
          <a:prstGeom prst="line">
            <a:avLst/>
          </a:prstGeom>
          <a:ln w="20320">
            <a:solidFill>
              <a:srgbClr val="A5B5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9966960" y="1737360"/>
            <a:ext cx="731520" cy="1280160"/>
          </a:xfrm>
          <a:prstGeom prst="line">
            <a:avLst/>
          </a:prstGeom>
          <a:ln w="20320">
            <a:solidFill>
              <a:srgbClr val="A5B5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966960" y="3017520"/>
            <a:ext cx="1097280" cy="1097280"/>
          </a:xfrm>
          <a:prstGeom prst="line">
            <a:avLst/>
          </a:prstGeom>
          <a:ln w="20320">
            <a:solidFill>
              <a:srgbClr val="A5B5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235440" y="4114800"/>
            <a:ext cx="1828800" cy="1188720"/>
          </a:xfrm>
          <a:prstGeom prst="line">
            <a:avLst/>
          </a:prstGeom>
          <a:ln w="20320">
            <a:solidFill>
              <a:srgbClr val="A5B5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822960"/>
            <a:ext cx="72237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200" b="1" i="0">
                <a:solidFill>
                  <a:srgbClr val="3FC4D2"/>
                </a:solidFill>
                <a:latin typeface="Aptos"/>
              </a:defRPr>
            </a:pPr>
            <a:r>
              <a:t>MACHINE LEARNING • NLP • CYBERSECURITY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508760"/>
            <a:ext cx="7498079" cy="1508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3800" b="1" i="0">
                <a:solidFill>
                  <a:srgbClr val="F8FAFC"/>
                </a:solidFill>
                <a:latin typeface="Aptos"/>
              </a:defRPr>
            </a:pPr>
            <a:r>
              <a:t>PHISHING TEXT</a:t>
            </a:r>
          </a:p>
          <a:p>
            <a:pPr algn="l">
              <a:spcAft>
                <a:spcPts val="600"/>
              </a:spcAft>
              <a:defRPr sz="3800" b="1" i="0">
                <a:solidFill>
                  <a:srgbClr val="F8FAFC"/>
                </a:solidFill>
                <a:latin typeface="Aptos"/>
              </a:defRPr>
            </a:pPr>
            <a:r>
              <a:t>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337560"/>
            <a:ext cx="7132320" cy="868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100" b="0" i="0">
                <a:solidFill>
                  <a:srgbClr val="E2EAF3"/>
                </a:solidFill>
                <a:latin typeface="Aptos"/>
              </a:defRPr>
            </a:pPr>
            <a:r>
              <a:t>Comparing text-classification models on original and synthetically modified emails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5453" y="5074920"/>
            <a:ext cx="6858000" cy="96012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1800" y="5148072"/>
            <a:ext cx="1417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Team members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9659" y="5148072"/>
            <a:ext cx="4937760" cy="110299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1300" b="0" i="0">
                <a:solidFill>
                  <a:srgbClr val="F8FAFC"/>
                </a:solidFill>
                <a:latin typeface="Aptos"/>
              </a:defRPr>
            </a:pPr>
            <a:r>
              <a:rPr dirty="0"/>
              <a:t>Member 1</a:t>
            </a:r>
            <a:r>
              <a:rPr lang="en-US" dirty="0"/>
              <a:t>: </a:t>
            </a:r>
            <a:r>
              <a:rPr lang="en-US" u="sng" dirty="0">
                <a:sym typeface="+mn-ea"/>
              </a:rPr>
              <a:t>Srija </a:t>
            </a:r>
            <a:r>
              <a:rPr lang="en-US" u="sng" dirty="0" err="1">
                <a:sym typeface="+mn-ea"/>
              </a:rPr>
              <a:t>Marripelli</a:t>
            </a:r>
            <a:r>
              <a:rPr lang="en-US" dirty="0">
                <a:sym typeface="+mn-ea"/>
              </a:rPr>
              <a:t> (MT/AI/10025/26)</a:t>
            </a:r>
            <a:r>
              <a:rPr dirty="0"/>
              <a:t> </a:t>
            </a:r>
            <a:endParaRPr lang="en-US" dirty="0"/>
          </a:p>
          <a:p>
            <a:pPr algn="l">
              <a:spcAft>
                <a:spcPts val="600"/>
              </a:spcAft>
              <a:defRPr sz="1300" b="0" i="0">
                <a:solidFill>
                  <a:srgbClr val="F8FAFC"/>
                </a:solidFill>
                <a:latin typeface="Aptos"/>
              </a:defRPr>
            </a:pPr>
            <a:r>
              <a:rPr dirty="0"/>
              <a:t>Member 2:</a:t>
            </a:r>
            <a:r>
              <a:rPr lang="en-US" dirty="0"/>
              <a:t> </a:t>
            </a:r>
            <a:r>
              <a:rPr lang="en-US" u="sng" dirty="0"/>
              <a:t>Apoorva</a:t>
            </a:r>
            <a:r>
              <a:rPr lang="en-US" dirty="0"/>
              <a:t> (MT/AI/10028/26)</a:t>
            </a:r>
            <a:endParaRPr dirty="0"/>
          </a:p>
          <a:p>
            <a:pPr algn="l">
              <a:spcAft>
                <a:spcPts val="600"/>
              </a:spcAft>
              <a:defRPr sz="1300" b="0" i="0">
                <a:solidFill>
                  <a:srgbClr val="F8FAFC"/>
                </a:solidFill>
                <a:latin typeface="Aptos"/>
              </a:defRPr>
            </a:pPr>
            <a:r>
              <a:rPr dirty="0"/>
              <a:t>Member 3:</a:t>
            </a:r>
            <a:r>
              <a:rPr lang="en-US" dirty="0"/>
              <a:t> </a:t>
            </a:r>
            <a:r>
              <a:rPr lang="en-US" u="sng" dirty="0">
                <a:sym typeface="+mn-ea"/>
              </a:rPr>
              <a:t>Ayushi Mishra</a:t>
            </a:r>
            <a:r>
              <a:rPr lang="en-US" dirty="0">
                <a:sym typeface="+mn-ea"/>
              </a:rPr>
              <a:t> (MT/AI/10017/26)</a:t>
            </a:r>
            <a:endParaRPr lang="en-US" dirty="0"/>
          </a:p>
          <a:p>
            <a:pPr algn="l">
              <a:spcAft>
                <a:spcPts val="600"/>
              </a:spcAft>
              <a:defRPr sz="1300" b="0" i="0">
                <a:solidFill>
                  <a:srgbClr val="F8FAFC"/>
                </a:solidFill>
                <a:latin typeface="Aptos"/>
              </a:defRPr>
            </a:pPr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01  /  15</a:t>
            </a:r>
          </a:p>
        </p:txBody>
      </p:sp>
      <p:sp>
        <p:nvSpPr>
          <p:cNvPr id="21" name="Rounded Rectangle 14"/>
          <p:cNvSpPr/>
          <p:nvPr/>
        </p:nvSpPr>
        <p:spPr>
          <a:xfrm>
            <a:off x="735453" y="4535424"/>
            <a:ext cx="1250663" cy="393831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472" y="4591446"/>
            <a:ext cx="1417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1" i="0">
                <a:solidFill>
                  <a:srgbClr val="3FC4D2"/>
                </a:solidFill>
                <a:latin typeface="Aptos"/>
              </a:defRPr>
            </a:pPr>
            <a:r>
              <a:rPr lang="en-US" dirty="0"/>
              <a:t>GROUP NO. 8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Why phishing text detection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02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347472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54864" cy="182880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76479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The threat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221992"/>
            <a:ext cx="309067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Phishing messages imitate trusted people or services to steal credentials, payment details, or other sensitive information.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47472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54864" cy="182880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76479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The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21992"/>
            <a:ext cx="309067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Email wording can contain clues such as urgency, requests for verification, threats, and suspicious calls to action.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47472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00200"/>
            <a:ext cx="54864" cy="182880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6479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The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221992"/>
            <a:ext cx="309067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Attackers can rewrite messages. A detector should be evaluated not only on familiar text, but also on changed wording.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77639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Project focus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34840"/>
            <a:ext cx="10424160" cy="9601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200" b="0" i="0">
                <a:solidFill>
                  <a:srgbClr val="F8FAFC"/>
                </a:solidFill>
                <a:latin typeface="Aptos"/>
              </a:defRPr>
            </a:pPr>
            <a:r>
              <a:t>Build a text-based classifier and compare three modelling approaches, then examine the reported results for original and modified email text.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rPr dirty="0"/>
              <a:t>Phishing Text Detection • Project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03  /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300" b="1" i="0">
                <a:solidFill>
                  <a:srgbClr val="F8FAFC"/>
                </a:solidFill>
                <a:latin typeface="Aptos"/>
              </a:defRPr>
            </a:pPr>
            <a:r>
              <a:t>A model may learn useful patterns from training examples, but its predictions can change when the same message is phrased differently.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3337560" cy="196596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54864" cy="196596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304495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02152"/>
            <a:ext cx="2953512" cy="12161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Email text containing requests, links, urgency, or account-related language.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337560" cy="196596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2880360"/>
            <a:ext cx="54864" cy="196596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7" y="304495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Potential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3502152"/>
            <a:ext cx="2953512" cy="12161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Words or phrases are replaced with similar alternatives while the intended meaning is meant to stay similar.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80360"/>
            <a:ext cx="3337560" cy="196596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80360"/>
            <a:ext cx="54864" cy="196596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304495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3502152"/>
            <a:ext cx="2953512" cy="12161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Do model predictions and metrics remain stable on the modified text?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Objectives and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04  /  15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200" b="1" i="0">
                <a:solidFill>
                  <a:srgbClr val="0E1A2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572768"/>
            <a:ext cx="19202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572768"/>
            <a:ext cx="7772400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Prepare a labelled email-text classification pipeline.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32304"/>
            <a:ext cx="502920" cy="50292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551176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200" b="1" i="0">
                <a:solidFill>
                  <a:srgbClr val="0E1A2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50592"/>
            <a:ext cx="19202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450592"/>
            <a:ext cx="7772400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Evaluate TF-IDF with Logistic Regression and Linear SVM, plus sentence embeddings with Logistic Regression.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310128"/>
            <a:ext cx="502920" cy="50292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200" b="1" i="0">
                <a:solidFill>
                  <a:srgbClr val="0E1A2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28416"/>
            <a:ext cx="19202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328416"/>
            <a:ext cx="7772400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Compare performance on original and synthetically modified text.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4187952"/>
            <a:ext cx="502920" cy="50292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306824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200" b="1" i="0">
                <a:solidFill>
                  <a:srgbClr val="0E1A2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206240"/>
            <a:ext cx="19202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206240"/>
            <a:ext cx="7772400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Use accuracy, phishing precision/recall, Macro-F1 and MCC.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5065776"/>
            <a:ext cx="502920" cy="50292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18464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200" b="1" i="0">
                <a:solidFill>
                  <a:srgbClr val="0E1A2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84064"/>
            <a:ext cx="19202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5084064"/>
            <a:ext cx="7772400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Check that modified inputs are truly evaluated separately.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Related work and research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05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52044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54864" cy="182880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764792"/>
            <a:ext cx="315468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Text weighting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21992"/>
            <a:ext cx="313639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TF-IDF represents terms by how informative they are within a document and across a collection.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52044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54864" cy="182880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764792"/>
            <a:ext cx="315468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Classical classifiers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21992"/>
            <a:ext cx="313639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Linear SVMs and Logistic Regression are common supervised baselines for sparse text features.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600200"/>
            <a:ext cx="352044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600200"/>
            <a:ext cx="54864" cy="182880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1764792"/>
            <a:ext cx="315468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Sentence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221992"/>
            <a:ext cx="313639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Pre-trained sentence encoders represent text in dense vectors intended to capture semantic similarity.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86200"/>
            <a:ext cx="1078992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4096512"/>
            <a:ext cx="4572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Research gap addressed by this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526280"/>
            <a:ext cx="101498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F8FAFC"/>
                </a:solidFill>
                <a:latin typeface="Aptos"/>
              </a:defRPr>
            </a:pPr>
            <a:r>
              <a:t>Compare lexical and embedding-based approaches under a controlled text-modification experiment, then verify whether the evaluation pipeline measures the modified inputs correctly.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577840"/>
            <a:ext cx="107899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100" b="0" i="0">
                <a:solidFill>
                  <a:srgbClr val="A5B5C7"/>
                </a:solidFill>
                <a:latin typeface="Aptos"/>
              </a:defRPr>
            </a:pPr>
            <a:r>
              <a:t>Literature anchors: Salton &amp; Buckley (1988), Term-weighting approaches in automatic text retrieval; Joachims (1998), Text categorization with Support Vector Machines; Reimers &amp; Gurevych (2019), Sentence-BERT.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DATA AND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06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37560" cy="141732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4864" cy="141732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Dataset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67712"/>
            <a:ext cx="2953512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900" b="0" i="0">
                <a:solidFill>
                  <a:srgbClr val="E2EAF3"/>
                </a:solidFill>
                <a:latin typeface="Aptos"/>
              </a:defRPr>
            </a:pPr>
            <a:r>
              <a:t>Rows in supplied CSV: 82,486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45920"/>
            <a:ext cx="3337560" cy="141732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645920"/>
            <a:ext cx="54864" cy="141732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7" y="181051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Fields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2267712"/>
            <a:ext cx="2953512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Columns: text_combined, label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337560" cy="141732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645920"/>
            <a:ext cx="54864" cy="141732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9328" y="181051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Label 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267712"/>
            <a:ext cx="2953512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Label 0: 39,595</a:t>
            </a:r>
          </a:p>
          <a:p>
            <a:pPr algn="l">
              <a:spcAft>
                <a:spcPts val="60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Label 1: 42,891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657600"/>
            <a:ext cx="2743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Important data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69080"/>
            <a:ext cx="10607040" cy="17373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Confirm label mapping (which value represents phishing versus legitimate).</a:t>
            </a:r>
          </a:p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Check missing or duplicate records and inspect representative samples.</a:t>
            </a:r>
          </a:p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Strip accidental spaces from column names before selecting fields.</a:t>
            </a:r>
          </a:p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Keep training and test data separate to avoid data leakage.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DATA AND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System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07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50392" y="1874520"/>
            <a:ext cx="457200" cy="45720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1975104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56232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Load labelled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25856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Email text + target 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2167128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2200" b="1" i="0">
                <a:solidFill>
                  <a:srgbClr val="3FC4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9164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645152" y="1874520"/>
            <a:ext cx="457200" cy="45720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1975104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856232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Preprocess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25856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Apply the cleaning steps in the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2167128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2200" b="1" i="0">
                <a:solidFill>
                  <a:srgbClr val="3FC4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169164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39912" y="1874520"/>
            <a:ext cx="457200" cy="45720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39912" y="1975104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856232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Create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25856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TF-IDF vectors or sentence embeddings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65760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50392" y="3840480"/>
            <a:ext cx="457200" cy="45720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0392" y="3941063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822191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Train classifiers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22452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LR, Linear SVM, embedding + LR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7368" y="4133087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2200" b="1" i="0">
                <a:solidFill>
                  <a:srgbClr val="3FC4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65760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645152" y="3840480"/>
            <a:ext cx="457200" cy="45720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45152" y="3941063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3822191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422452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Original and modified test text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2128" y="4133087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2200" b="1" i="0">
                <a:solidFill>
                  <a:srgbClr val="3FC4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20" y="365760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39912" y="3840480"/>
            <a:ext cx="457200" cy="45720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39912" y="3941063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822191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Export results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422452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CSV metrics and comparison table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DATA AND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Synthetic text modification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08  /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743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3FC4D2"/>
                </a:solidFill>
                <a:latin typeface="Aptos"/>
              </a:defRPr>
            </a:pPr>
            <a:r>
              <a:t>Illustrative example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4892040" cy="13716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54864" cy="137160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221992"/>
            <a:ext cx="4526279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Original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679192"/>
            <a:ext cx="4507992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0" i="0">
                <a:solidFill>
                  <a:srgbClr val="E2EAF3"/>
                </a:solidFill>
                <a:latin typeface="Aptos"/>
              </a:defRPr>
            </a:pPr>
            <a:r>
              <a:t>“Please verify your account immediately.”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560320"/>
            <a:ext cx="4572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2500" b="1" i="0">
                <a:solidFill>
                  <a:srgbClr val="FFB16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57400"/>
            <a:ext cx="4892040" cy="13716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55080" y="2057400"/>
            <a:ext cx="54864" cy="137160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6248" y="2221992"/>
            <a:ext cx="4526279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Modified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679192"/>
            <a:ext cx="4507992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0" i="0">
                <a:solidFill>
                  <a:srgbClr val="E2EAF3"/>
                </a:solidFill>
                <a:latin typeface="Aptos"/>
              </a:defRPr>
            </a:pPr>
            <a:r>
              <a:t>“Please confirm your account right away.”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86200"/>
            <a:ext cx="2743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Experimental logic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10332720" cy="132588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Replace selected words with predefined synonyms or alternatives.</a:t>
            </a:r>
          </a:p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Keep the original label only when the modified text preserves the same intent.</a:t>
            </a:r>
          </a:p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Evaluate modified messages independently and compare the metrics.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DATA AND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Models and feature representations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09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2468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4864" cy="246888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A. TF-IDF + Logistic 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67712"/>
            <a:ext cx="3090672" cy="1719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Sparse word-weight vectors</a:t>
            </a:r>
          </a:p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Learns a linear decision boundary</a:t>
            </a:r>
          </a:p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Strong, interpretable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474720" cy="2468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45920"/>
            <a:ext cx="54864" cy="246888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1051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B. TF-IDF + Linear SVM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67712"/>
            <a:ext cx="3090672" cy="1719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Same lexical representation</a:t>
            </a:r>
          </a:p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Finds a maximum-margin separator</a:t>
            </a:r>
          </a:p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Best reported Macro-F1 in this 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645920"/>
            <a:ext cx="3474720" cy="2468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645920"/>
            <a:ext cx="54864" cy="246888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6448" y="181051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C. Sentence embeddings + LR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267712"/>
            <a:ext cx="3090672" cy="1719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• Dense vectors from a sentence encoder</a:t>
            </a:r>
          </a:p>
          <a:p>
            <a:pPr algn="l">
              <a:spcAft>
                <a:spcPts val="60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• Captures more semantic context</a:t>
            </a:r>
          </a:p>
          <a:p>
            <a:pPr algn="l">
              <a:spcAft>
                <a:spcPts val="60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• Logistic Regression performs final classification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00600"/>
            <a:ext cx="1051560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Fair comparison requires the same held-out examples, consistent labels, and an independently computed prediction for each test condition.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DATA AND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Experimental setup and reproducibility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10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37560" cy="150876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54864" cy="150876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76479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Training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21992"/>
            <a:ext cx="2953512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Used to fit vectorizers/encoders as applicable and train the classifiers.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00200"/>
            <a:ext cx="3337560" cy="150876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600200"/>
            <a:ext cx="54864" cy="150876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7" y="176479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Held-out test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2221992"/>
            <a:ext cx="2953512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Used for final evaluation; do not fit preprocessing on test labels or test text statistics.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00200"/>
            <a:ext cx="3337560" cy="1591056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600200"/>
            <a:ext cx="54864" cy="150876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9328" y="176479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Two conditions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221992"/>
            <a:ext cx="2953512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Original messages and modified messages should be passed through the same fitted pipeline separately.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03320"/>
            <a:ext cx="32004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Reproducibility 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114800"/>
            <a:ext cx="10515600" cy="169164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Record the train/test split and random seed from the source code.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Fit TF-IDF only on training data, then transform test inputs.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Keep labels and sample order aligned after modification.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Save predictions and metrics separately for original and modified text.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Investigate identical metrics before claiming robustness.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Evaluation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11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83280" cy="12344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54864" cy="123444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764792"/>
            <a:ext cx="3017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21992"/>
            <a:ext cx="2999232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400" b="0" i="0">
                <a:solidFill>
                  <a:srgbClr val="E2EAF3"/>
                </a:solidFill>
                <a:latin typeface="Aptos"/>
              </a:defRPr>
            </a:pPr>
            <a:r>
              <a:t>Fraction of all messages classified correctly.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600200"/>
            <a:ext cx="3383280" cy="12344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26280" y="1600200"/>
            <a:ext cx="54864" cy="123444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27448" y="1764792"/>
            <a:ext cx="3017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Phishing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2221992"/>
            <a:ext cx="2999232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400" b="0" i="0">
                <a:solidFill>
                  <a:srgbClr val="E2EAF3"/>
                </a:solidFill>
                <a:latin typeface="Aptos"/>
              </a:defRPr>
            </a:pPr>
            <a:r>
              <a:t>Among messages predicted as phishing, the fraction that truly are phishing.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600200"/>
            <a:ext cx="3383280" cy="12344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21040" y="1600200"/>
            <a:ext cx="54864" cy="123444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22208" y="1764792"/>
            <a:ext cx="3017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Phishing 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221992"/>
            <a:ext cx="2999232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400" b="0" i="0">
                <a:solidFill>
                  <a:srgbClr val="E2EAF3"/>
                </a:solidFill>
                <a:latin typeface="Aptos"/>
              </a:defRPr>
            </a:pPr>
            <a:r>
              <a:t>Among actual phishing messages, the fraction detected.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46120"/>
            <a:ext cx="3383280" cy="12344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520" y="3246120"/>
            <a:ext cx="54864" cy="123444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" y="3410712"/>
            <a:ext cx="3017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Macro-F1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867911"/>
            <a:ext cx="2999232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400" b="0" i="0">
                <a:solidFill>
                  <a:srgbClr val="E2EAF3"/>
                </a:solidFill>
                <a:latin typeface="Aptos"/>
              </a:defRPr>
            </a:pPr>
            <a:r>
              <a:t>Average F1 across classes, giving each class equal weight.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3246120"/>
            <a:ext cx="3383280" cy="12344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26280" y="3246120"/>
            <a:ext cx="54864" cy="123444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27448" y="3410712"/>
            <a:ext cx="3017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MCC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3867911"/>
            <a:ext cx="2999232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400" b="0" i="0">
                <a:solidFill>
                  <a:srgbClr val="E2EAF3"/>
                </a:solidFill>
                <a:latin typeface="Aptos"/>
              </a:defRPr>
            </a:pPr>
            <a:r>
              <a:t>Balanced summary based on TP, TN, FP and FN.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2286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Why recall matters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86400"/>
            <a:ext cx="105156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A false negative is a phishing email incorrectly marked as legitimate. In a real deployment, missed threats can be costly, so accuracy alone is not enough.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Results on original emails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12  /  15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" y="1600200"/>
          <a:ext cx="54864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83080"/>
          <a:ext cx="50749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8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8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8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87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Accuracy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Phishing recall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Macro-F1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TF-IDF + LR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98.95%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99.13%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98.95%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TF-IDF + Linear SVM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99.33%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99.52%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99.32%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Sentence Embeddings + LR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94.40%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94.86%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94.39%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46520" y="4434840"/>
            <a:ext cx="4892040" cy="868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1" i="0">
                <a:solidFill>
                  <a:srgbClr val="6FD3A0"/>
                </a:solidFill>
                <a:latin typeface="Aptos"/>
              </a:defRPr>
            </a:pPr>
            <a:r>
              <a:t>Finding: TF-IDF + Linear SVM achieved the strongest reported original-test performance (99.33% accuracy; 99.32% Macro-F1).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Original vs. modified test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13  /  15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508760"/>
          <a:ext cx="66751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737360"/>
            <a:ext cx="384048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54864" cy="132588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90688" y="1901952"/>
            <a:ext cx="34747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Reported performance drop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2359152"/>
            <a:ext cx="3456432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0.00% for all three models in comparison_table.csv.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337560"/>
            <a:ext cx="3840480" cy="1700784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589520" y="3337560"/>
            <a:ext cx="54864" cy="1508760"/>
          </a:xfrm>
          <a:prstGeom prst="rect">
            <a:avLst/>
          </a:prstGeom>
          <a:solidFill>
            <a:srgbClr val="F2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90688" y="3502152"/>
            <a:ext cx="34747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Interpret carefully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3959352"/>
            <a:ext cx="3456432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rPr dirty="0"/>
              <a:t>All reported metrics are identical between conditions. This is a reason to audit the code and inputs—not proof of robustness.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Discussion, limitations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14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29000" cy="19202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54864" cy="192024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764792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What the results say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21992"/>
            <a:ext cx="3044952" cy="11704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The reported original-test results favour TF-IDF + Linear SVM, followed by TF-IDF + Logistic Regression.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00200"/>
            <a:ext cx="3429000" cy="19202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600200"/>
            <a:ext cx="54864" cy="192024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1764792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What is uncertain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44952" cy="11704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Identical original and modified metrics require checking whether modifications and separate predictions were actually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429000" cy="19202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00200"/>
            <a:ext cx="54864" cy="192024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64792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Project limitations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221992"/>
            <a:ext cx="3044952" cy="11704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Synthetic substitutions are limited; text-only detection misses sender, URL, header, attachment and context signals.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977639"/>
            <a:ext cx="3429000" cy="3508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Recommended next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10515600" cy="15087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Inspect modified samples and compare them directly with original samples.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Recompute predictions on modified text using the same fitted models.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Add confusion matrices and error examples after the evaluation audit.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Test on a separate dataset and consider URL/sender features for a fuller detector.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Conclusion and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15  /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20116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900" b="1" i="0">
                <a:solidFill>
                  <a:srgbClr val="3FC4D2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900" b="1" i="0">
                <a:solidFill>
                  <a:srgbClr val="F8FAFC"/>
                </a:solidFill>
                <a:latin typeface="Aptos"/>
              </a:defRPr>
            </a:pPr>
            <a:r>
              <a:t>This project compares three NLP-based phishing text classifiers. TF-IDF + Linear SVM achieved the highest reported original-test Macro-F1 (99.32%). However, identical original and modified metrics must be investigated before drawing conclusions about robustness.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0116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FFB166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56432"/>
            <a:ext cx="1060704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Validate the modification pipeline, test realistic paraphrases and independent data, analyse false negatives, and explore combined text + URL/sender signals.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20116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98480" cy="137160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E2EAF3"/>
                </a:solidFill>
                <a:latin typeface="Aptos"/>
              </a:defRPr>
            </a:pPr>
            <a:r>
              <a:t>•  Salton, G. &amp; Buckley, C. (1988). Term-weighting approaches in automatic text retrieval. Information Processing &amp; Management, 24(5), 513–523.</a:t>
            </a:r>
          </a:p>
          <a:p>
            <a:pPr>
              <a:spcAft>
                <a:spcPts val="200"/>
              </a:spcAft>
              <a:defRPr sz="1000">
                <a:solidFill>
                  <a:srgbClr val="E2EAF3"/>
                </a:solidFill>
                <a:latin typeface="Aptos"/>
              </a:defRPr>
            </a:pPr>
            <a:r>
              <a:t>•  Joachims, T. (1998). Text categorization with Support Vector Machines: Learning with many relevant features. ECML.</a:t>
            </a:r>
          </a:p>
          <a:p>
            <a:pPr>
              <a:spcAft>
                <a:spcPts val="200"/>
              </a:spcAft>
              <a:defRPr sz="1000">
                <a:solidFill>
                  <a:srgbClr val="E2EAF3"/>
                </a:solidFill>
                <a:latin typeface="Aptos"/>
              </a:defRPr>
            </a:pPr>
            <a:r>
              <a:t>•  Reimers, N. &amp; Gurevych, I. (2019). Sentence-BERT: Sentence Embeddings using Siamese BERT-Networks. EMNLP-IJCNLP.</a:t>
            </a:r>
          </a:p>
          <a:p>
            <a:pPr>
              <a:spcAft>
                <a:spcPts val="200"/>
              </a:spcAft>
              <a:defRPr sz="1000">
                <a:solidFill>
                  <a:srgbClr val="E2EAF3"/>
                </a:solidFill>
                <a:latin typeface="Aptos"/>
              </a:defRPr>
            </a:pPr>
            <a:r>
              <a:t>•  Project repository: github.com/Apoorva2004/MTech-AIML-Project_8_PhishingTextDetection</a:t>
            </a:r>
          </a:p>
          <a:p>
            <a:pPr>
              <a:spcAft>
                <a:spcPts val="200"/>
              </a:spcAft>
              <a:defRPr sz="1000">
                <a:solidFill>
                  <a:srgbClr val="E2EAF3"/>
                </a:solidFill>
                <a:latin typeface="Aptos"/>
              </a:defRPr>
            </a:pPr>
            <a:r>
              <a:t>•  Experimental results supplied with this presentation: results.csv and comparison_table.csv.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15  / 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7213" y="2163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 err="1"/>
              <a:t>Indivisual</a:t>
            </a:r>
            <a:r>
              <a:rPr lang="en-US" dirty="0"/>
              <a:t>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rPr lang="en-US" dirty="0" err="1"/>
              <a:t>Indivisual</a:t>
            </a:r>
            <a:r>
              <a:rPr lang="en-US" dirty="0"/>
              <a:t> Contribution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14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29000" cy="4198988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54864" cy="419898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764792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Member 1: Srija </a:t>
            </a:r>
            <a:r>
              <a:rPr lang="en-US" dirty="0" err="1"/>
              <a:t>Marripelli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932688" y="2221992"/>
            <a:ext cx="3044952" cy="30285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Studied phishing email detection and reviewed related research papers.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 err="1">
                <a:solidFill>
                  <a:schemeClr val="bg1"/>
                </a:solidFill>
              </a:rPr>
              <a:t>Analyzed</a:t>
            </a:r>
            <a:r>
              <a:rPr lang="en-IN" sz="1600" dirty="0">
                <a:solidFill>
                  <a:schemeClr val="bg1"/>
                </a:solidFill>
              </a:rPr>
              <a:t> the dataset, its labels, and the text features.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Contributed to text cleaning and preprocessing.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Collaborated on selecting suitable machine learning approaches.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Participated in reviewing the experimental results.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00199"/>
            <a:ext cx="3429000" cy="4198989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600200"/>
            <a:ext cx="69022" cy="4198988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1764792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Member 2: Apoorva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44952" cy="30285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Contributed to TF-IDF feature extraction and text representation.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Worked on implementing and running the selected classification models.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Helped integrate preprocessing with the model pipeline.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Participated in model testing and debugging.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Collaborated on comparing model performance.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429000" cy="4198988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00200"/>
            <a:ext cx="54864" cy="4198988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64792"/>
            <a:ext cx="306324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Member 3: Ayushi Mishra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221992"/>
            <a:ext cx="3044952" cy="35209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Contributed to creating or reviewing modified versions of email text.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Helped evaluate model predictions on original and modified text.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 err="1">
                <a:solidFill>
                  <a:schemeClr val="bg1"/>
                </a:solidFill>
              </a:rPr>
              <a:t>Analyzed</a:t>
            </a:r>
            <a:r>
              <a:rPr lang="en-IN" sz="1600" dirty="0">
                <a:solidFill>
                  <a:schemeClr val="bg1"/>
                </a:solidFill>
              </a:rPr>
              <a:t> metrics such as Accuracy, Macro F1, and MCC, where calculated.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Contributed to result visualization and interpretation.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Collaborated on conclusions, limitations, and final documentation.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4003696" y="2500040"/>
            <a:ext cx="4184608" cy="9971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3800" b="1" i="0">
                <a:solidFill>
                  <a:srgbClr val="F8FAFC"/>
                </a:solidFill>
                <a:latin typeface="Aptos"/>
              </a:defRPr>
            </a:pPr>
            <a:r>
              <a:rPr lang="en-US" sz="6000" dirty="0"/>
              <a:t>THANKYOU</a:t>
            </a:r>
            <a:endParaRPr sz="6000" dirty="0"/>
          </a:p>
        </p:txBody>
      </p:sp>
      <p:sp>
        <p:nvSpPr>
          <p:cNvPr id="15" name="Rounded Rectangle 14"/>
          <p:cNvSpPr/>
          <p:nvPr/>
        </p:nvSpPr>
        <p:spPr>
          <a:xfrm>
            <a:off x="2775253" y="3458890"/>
            <a:ext cx="6858000" cy="96012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25801" y="3717351"/>
            <a:ext cx="2340397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1" i="0">
                <a:solidFill>
                  <a:srgbClr val="3FC4D2"/>
                </a:solidFill>
                <a:latin typeface="Aptos"/>
              </a:defRPr>
            </a:pPr>
            <a:r>
              <a:rPr lang="en-US" sz="2400" dirty="0"/>
              <a:t>Any Questions?</a:t>
            </a:r>
            <a:endParaRPr sz="2400" dirty="0"/>
          </a:p>
        </p:txBody>
      </p:sp>
      <p:sp>
        <p:nvSpPr>
          <p:cNvPr id="19" name="TextBox 18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01  /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1681</Words>
  <Application>Microsoft Office PowerPoint</Application>
  <PresentationFormat>Widescreen</PresentationFormat>
  <Paragraphs>259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Ayushi Mishra</cp:lastModifiedBy>
  <cp:revision>9</cp:revision>
  <dcterms:created xsi:type="dcterms:W3CDTF">2013-01-27T09:14:00Z</dcterms:created>
  <dcterms:modified xsi:type="dcterms:W3CDTF">2026-10-20T12:56:06Z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F2B6CF9C4CB54CACA7CA93160EB3D0B1_12</vt:lpwstr>
  </property>
  <property fmtid="{D5CDD505-2E9C-101B-9397-08002B2CF9AE}" pid="3" name="KSOProductBuildVer">
    <vt:lpwstr>1033-12.1.0.29162</vt:lpwstr>
  </property>
</Properties>
</file>